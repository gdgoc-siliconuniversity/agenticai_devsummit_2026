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FFA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0FFAA">
              <a:alpha val="12000"/>
            </a:srgbClr>
          </a:solidFill>
          <a:ln w="12700">
            <a:solidFill>
              <a:srgbClr val="10FFA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38BEFF">
              <a:alpha val="10000"/>
            </a:srgbClr>
          </a:solidFill>
          <a:ln w="12700">
            <a:solidFill>
              <a:srgbClr val="38BE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108960"/>
            <a:ext cx="1097280" cy="1097280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914400" cy="274320"/>
          </a:xfrm>
          <a:prstGeom prst="rect">
            <a:avLst/>
          </a:prstGeom>
          <a:solidFill>
            <a:srgbClr val="10FFAA">
              <a:alpha val="20000"/>
            </a:srgbClr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0FFAA"/>
                </a:solidFill>
              </a:rPr>
              <a:t>PS-03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E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Approval Loop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Scrollhouse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script approvals, follow-ups &amp; escalations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22 active clients — eliminating 3–4 hours of manual chasing per week.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10312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3749040"/>
            <a:ext cx="210312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38BE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Integration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3749040"/>
            <a:ext cx="210312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 / 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Hackathon · 3rd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Scrollhouse was running blind.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560320" cy="2194560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560320" cy="64008"/>
          </a:xfrm>
          <a:prstGeom prst="rect">
            <a:avLst/>
          </a:prstGeom>
          <a:solidFill>
            <a:srgbClr val="10FFAA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scripts in approval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one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60320" cy="2194560"/>
          </a:xfrm>
          <a:prstGeom prst="rect">
            <a:avLst/>
          </a:prstGeom>
          <a:solidFill>
            <a:srgbClr val="0D1E38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91640"/>
            <a:ext cx="2560320" cy="6400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tracked entirely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team lead's head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560320" cy="2194560"/>
          </a:xfrm>
          <a:prstGeom prst="rect">
            <a:avLst/>
          </a:prstGeom>
          <a:solidFill>
            <a:srgbClr val="0D1E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91640"/>
            <a:ext cx="256032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3–4h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Lost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chasing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1E3050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23360"/>
            <a:ext cx="54864" cy="658368"/>
          </a:xfrm>
          <a:prstGeom prst="rect">
            <a:avLst/>
          </a:prstGeom>
          <a:solidFill>
            <a:srgbClr val="10FFAA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15 different conversations in my head at the same time." — Scrollhouse Team Lead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end-to-end agentic approval loop.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463040" cy="1417320"/>
          </a:xfrm>
          <a:prstGeom prst="rect">
            <a:avLst/>
          </a:prstGeom>
          <a:solidFill>
            <a:srgbClr val="0D1E38"/>
          </a:solidFill>
          <a:ln w="1905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2331720"/>
            <a:ext cx="256032" cy="5486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691640"/>
            <a:ext cx="1463040" cy="1417320"/>
          </a:xfrm>
          <a:prstGeom prst="rect">
            <a:avLst/>
          </a:prstGeom>
          <a:solidFill>
            <a:srgbClr val="0D1E38"/>
          </a:solidFill>
          <a:ln w="19050">
            <a:solidFill>
              <a:srgbClr val="38BE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22128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331720"/>
            <a:ext cx="256032" cy="5486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691640"/>
            <a:ext cx="1463040" cy="1417320"/>
          </a:xfrm>
          <a:prstGeom prst="rect">
            <a:avLst/>
          </a:prstGeom>
          <a:solidFill>
            <a:srgbClr val="0D1E38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22128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Follow-up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331720"/>
            <a:ext cx="256032" cy="5486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691640"/>
            <a:ext cx="1463040" cy="1417320"/>
          </a:xfrm>
          <a:prstGeom prst="rect">
            <a:avLst/>
          </a:prstGeom>
          <a:solidFill>
            <a:srgbClr val="0D1E38"/>
          </a:solidFill>
          <a:ln w="1905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22128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2331720"/>
            <a:ext cx="256032" cy="54864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691640"/>
            <a:ext cx="1463040" cy="1417320"/>
          </a:xfrm>
          <a:prstGeom prst="rect">
            <a:avLst/>
          </a:prstGeom>
          <a:solidFill>
            <a:srgbClr val="0D1E38"/>
          </a:solidFill>
          <a:ln w="19050">
            <a:solidFill>
              <a:srgbClr val="38BE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2128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 Timeline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164592" cy="164592"/>
          </a:xfrm>
          <a:prstGeom prst="ellipse">
            <a:avLst/>
          </a:prstGeom>
          <a:solidFill>
            <a:srgbClr val="10FFAA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950208"/>
            <a:ext cx="18288" cy="22860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49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 sent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7822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4233672"/>
            <a:ext cx="18288" cy="22860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032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25880" y="4032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reminder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361688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4517136"/>
            <a:ext cx="18288" cy="22860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315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25880" y="4315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follow-up — production blocked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645152"/>
            <a:ext cx="164592" cy="16459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4800600"/>
            <a:ext cx="18288" cy="22860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599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325880" y="4599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Account Manager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3246120"/>
            <a:ext cx="3749040" cy="1600200"/>
          </a:xfrm>
          <a:prstGeom prst="rect">
            <a:avLst/>
          </a:prstGeom>
          <a:solidFill>
            <a:srgbClr val="0D1E38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66360" y="3337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 Classification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3703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3968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REVISE  — extract notes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4233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CALL REQUEST — urgent flag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66360" y="4498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IRRELEVANT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free tier — zero cost.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1371600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06040" cy="54864"/>
          </a:xfrm>
          <a:prstGeom prst="rect">
            <a:avLst/>
          </a:prstGeom>
          <a:solidFill>
            <a:srgbClr val="10FFAA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282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02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(Google AI Studio)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classification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message formatting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709928"/>
            <a:ext cx="347472" cy="219456"/>
          </a:xfrm>
          <a:prstGeom prst="rect">
            <a:avLst/>
          </a:prstGeom>
          <a:solidFill>
            <a:srgbClr val="10FFAA">
              <a:alpha val="20000"/>
            </a:srgbClr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7099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606040" cy="1371600"/>
          </a:xfrm>
          <a:prstGeom prst="rect">
            <a:avLst/>
          </a:prstGeom>
          <a:solidFill>
            <a:srgbClr val="0D1E38"/>
          </a:solidFill>
          <a:ln w="12700">
            <a:solidFill>
              <a:srgbClr val="38BE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606040" cy="54864"/>
          </a:xfrm>
          <a:prstGeom prst="rect">
            <a:avLst/>
          </a:prstGeom>
          <a:solidFill>
            <a:srgbClr val="38BEFF"/>
          </a:solidFill>
          <a:ln w="12700">
            <a:solidFill>
              <a:srgbClr val="38B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7282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 3.1 70B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02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LLM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2585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fallback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Gemini is slow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2606040" cy="1371600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00200"/>
            <a:ext cx="2606040" cy="54864"/>
          </a:xfrm>
          <a:prstGeom prst="rect">
            <a:avLst/>
          </a:prstGeom>
          <a:solidFill>
            <a:srgbClr val="10FFAA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7282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002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framework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585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approval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conditional branches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606040" cy="1371600"/>
          </a:xfrm>
          <a:prstGeom prst="rect">
            <a:avLst/>
          </a:prstGeom>
          <a:solidFill>
            <a:srgbClr val="0D1E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00400"/>
            <a:ext cx="2606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284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(self-hosted)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602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integrations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858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· Airtable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triggers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14600" y="3310128"/>
            <a:ext cx="347472" cy="219456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3101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3200400"/>
            <a:ext cx="2606040" cy="1371600"/>
          </a:xfrm>
          <a:prstGeom prst="rect">
            <a:avLst/>
          </a:prstGeom>
          <a:solidFill>
            <a:srgbClr val="0D1E38"/>
          </a:solidFill>
          <a:ln w="12700">
            <a:solidFill>
              <a:srgbClr val="38BE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200400"/>
            <a:ext cx="2606040" cy="54864"/>
          </a:xfrm>
          <a:prstGeom prst="rect">
            <a:avLst/>
          </a:prstGeom>
          <a:solidFill>
            <a:srgbClr val="38BEFF"/>
          </a:solidFill>
          <a:ln w="12700">
            <a:solidFill>
              <a:srgbClr val="38B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3284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602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tracker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858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22 clients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200400"/>
            <a:ext cx="2606040" cy="1371600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200400"/>
            <a:ext cx="2606040" cy="54864"/>
          </a:xfrm>
          <a:prstGeom prst="rect">
            <a:avLst/>
          </a:prstGeom>
          <a:solidFill>
            <a:srgbClr val="10FFAA"/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3284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602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3858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classification traced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Deterministic (n8n)   +   65% LLM-Driven (Gemini / Groq)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see in the next 60 seconds.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84048" cy="384048"/>
          </a:xfrm>
          <a:prstGeom prst="ellipse">
            <a:avLst/>
          </a:prstGeom>
          <a:solidFill>
            <a:srgbClr val="10FFAA">
              <a:alpha val="20000"/>
            </a:srgbClr>
          </a:solidFill>
          <a:ln w="19050">
            <a:solidFill>
              <a:srgbClr val="10FF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Pipeline Dashboard — see all 22 scripts, live status, follow-up timers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384048" cy="384048"/>
          </a:xfrm>
          <a:prstGeom prst="ellipse">
            <a:avLst/>
          </a:prstGeom>
          <a:solidFill>
            <a:srgbClr val="38BEFF">
              <a:alpha val="20000"/>
            </a:srgbClr>
          </a:solidFill>
          <a:ln w="19050">
            <a:solidFill>
              <a:srgbClr val="38B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6771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AWAITING row — auto-loads into the Analyst Agent tab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384048" cy="384048"/>
          </a:xfrm>
          <a:prstGeom prst="ellipse">
            <a:avLst/>
          </a:prstGeom>
          <a:solidFill>
            <a:srgbClr val="10FFAA">
              <a:alpha val="20000"/>
            </a:srgbClr>
          </a:solidFill>
          <a:ln w="19050">
            <a:solidFill>
              <a:srgbClr val="10FF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895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"🔥 High Energy" example — agent classifies APPROVE + satisfaction score 9/10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384048" cy="384048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511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"✏️ Revision" example — agent extracts exact revision notes from the reply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178808"/>
            <a:ext cx="384048" cy="384048"/>
          </a:xfrm>
          <a:prstGeom prst="ellipse">
            <a:avLst/>
          </a:prstGeom>
          <a:solidFill>
            <a:srgbClr val="38BEFF">
              <a:alpha val="20000"/>
            </a:srgbClr>
          </a:solidFill>
          <a:ln w="19050">
            <a:solidFill>
              <a:srgbClr val="38B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330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tracker updates in real time — status changes live on screen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0FFAA">
              <a:alpha val="12000"/>
            </a:srgbClr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Gemini 1.5 Flash · LangGraph · n8n · Airtable · LangSmith · Render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EDGE CASES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188720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week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188720"/>
          </a:xfrm>
          <a:prstGeom prst="rect">
            <a:avLst/>
          </a:prstGeom>
          <a:solidFill>
            <a:srgbClr val="0D1E38"/>
          </a:solidFill>
          <a:ln w="12700">
            <a:solidFill>
              <a:srgbClr val="38BE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without human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188720"/>
          </a:xfrm>
          <a:prstGeom prst="rect">
            <a:avLst/>
          </a:prstGeom>
          <a:solidFill>
            <a:srgbClr val="0D1E3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automated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188720"/>
          </a:xfrm>
          <a:prstGeom prst="rect">
            <a:avLst/>
          </a:prstGeom>
          <a:solidFill>
            <a:srgbClr val="0D1E38"/>
          </a:solidFill>
          <a:ln w="12700">
            <a:solidFill>
              <a:srgbClr val="10FFA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stack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Handled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889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7889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approvals — thumbs-up emoji, 'looks good', recognised as APPROVE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09544"/>
            <a:ext cx="841248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95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2095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feedback — separates approved sections from revision requests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30168"/>
            <a:ext cx="841248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01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630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Out-of-sequence replies — matched to correct script version via version label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50792"/>
            <a:ext cx="841248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507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5079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requests — loop paused, Account Manager notified to schedule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471416"/>
            <a:ext cx="8412480" cy="347472"/>
          </a:xfrm>
          <a:prstGeom prst="rect">
            <a:avLst/>
          </a:prstGeom>
          <a:solidFill>
            <a:srgbClr val="0D1E38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714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4714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AM override — respected without disrupting tracking state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7315200" cy="7315200"/>
          </a:xfrm>
          <a:prstGeom prst="ellipse">
            <a:avLst/>
          </a:prstGeom>
          <a:solidFill>
            <a:srgbClr val="10FFAA">
              <a:alpha val="5000"/>
            </a:srgbClr>
          </a:solidFill>
          <a:ln w="12700">
            <a:solidFill>
              <a:srgbClr val="10FFA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E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chaos to clarity.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agentic loop — zero dropped scripts, zero missed deadlines.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dropped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FF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179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per week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069080"/>
            <a:ext cx="2743200" cy="36576"/>
          </a:xfrm>
          <a:prstGeom prst="rect">
            <a:avLst/>
          </a:prstGeom>
          <a:solidFill>
            <a:srgbClr val="10FFAA">
              <a:alpha val="40000"/>
            </a:srgbClr>
          </a:solidFill>
          <a:ln w="12700">
            <a:solidFill>
              <a:srgbClr val="10FF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Agentic AI Hackathon · PS-03 · 3rd April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Scrollhouse Content Approval Loop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Scrollhouse — Content Approval Loop</dc:title>
  <dc:subject>PptxGenJS Presentation</dc:subject>
  <dc:creator>PptxGenJS</dc:creator>
  <cp:lastModifiedBy>PptxGenJS</cp:lastModifiedBy>
  <cp:revision>1</cp:revision>
  <dcterms:created xsi:type="dcterms:W3CDTF">2026-04-03T10:08:45Z</dcterms:created>
  <dcterms:modified xsi:type="dcterms:W3CDTF">2026-04-03T10:08:45Z</dcterms:modified>
</cp:coreProperties>
</file>