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9A89-8770-4BC7-30D9-C772AD520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819" y="1473821"/>
            <a:ext cx="8361229" cy="2098226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4000" dirty="0">
                <a:latin typeface="Arial Black" panose="020B0A04020102020204" pitchFamily="34" charset="0"/>
              </a:rPr>
              <a:t>Script Approval Agent</a:t>
            </a:r>
            <a:br>
              <a:rPr lang="en-US" dirty="0"/>
            </a:br>
            <a:r>
              <a:rPr lang="en-US" dirty="0">
                <a:latin typeface="Arial Narrow" panose="020B0606020202030204" pitchFamily="34" charset="0"/>
              </a:rPr>
              <a:t> 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Eliminating the Content Approval Bottleneck with Agentic AI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77EB2-9599-B50B-0FD0-CDA9C5BEA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Name :AYUSHI SINGH </a:t>
            </a:r>
          </a:p>
          <a:p>
            <a:r>
              <a:rPr lang="en-IN" dirty="0"/>
              <a:t>TEAM :SUSHI </a:t>
            </a:r>
          </a:p>
        </p:txBody>
      </p:sp>
    </p:spTree>
    <p:extLst>
      <p:ext uri="{BB962C8B-B14F-4D97-AF65-F5344CB8AC3E}">
        <p14:creationId xmlns:p14="http://schemas.microsoft.com/office/powerpoint/2010/main" val="1028064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586E-72A9-3ECA-BAFF-6E9339766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u="sng" dirty="0">
                <a:latin typeface="Arial Black" panose="020B0A04020102020204" pitchFamily="34" charset="0"/>
              </a:rPr>
              <a:t>THE PROBLEM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4C5D8-20BE-C34E-93BE-5D1E0B48F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499419"/>
            <a:ext cx="9601200" cy="3581400"/>
          </a:xfrm>
        </p:spPr>
        <p:txBody>
          <a:bodyPr>
            <a:normAutofit fontScale="85000" lnSpcReduction="10000"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Scrollhouse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manages 22 clients with 8–15 scripts awaiting approval at any time.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entire process is manual — no tracking, no automation, no visibility.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- Scripts sent via WhatsApp or email and never tracked again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- Team lead managing 15 conversations from memory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- 3–4 hours wasted weekly on manual follow-up chasing</a:t>
            </a:r>
          </a:p>
          <a:p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  Real consequence: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client approved a script on WhatsApp. Message never seen. Script missed its product launch by 11 days. Two clients reduced monthly spend citing approval delays.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C206-9F32-1D4E-9647-78573FA6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Arial Black" panose="020B0A04020102020204" pitchFamily="34" charset="0"/>
              </a:rPr>
              <a:t>THE SOLUTION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4207D-337D-2AE1-AD96-20D9730E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38300"/>
            <a:ext cx="9601200" cy="3581400"/>
          </a:xfrm>
        </p:spPr>
        <p:txBody>
          <a:bodyPr>
            <a:normAutofit fontScale="25000" lnSpcReduction="20000"/>
          </a:bodyPr>
          <a:lstStyle/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An autonomous agent that owns the entire approval lifecycle from submission to resolution — without any human chasing.</a:t>
            </a:r>
          </a:p>
          <a:p>
            <a:endParaRPr lang="en-IN" sz="5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Script marked Ready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        ↓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Approval request sent (WhatsApp / Email)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        ↓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24h no reply → Follow-up 1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48h no reply → Follow-up 2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72h no reply → Escalation to Account Manager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        ↓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Client replies → AI classifies response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        ↓</a:t>
            </a:r>
          </a:p>
          <a:p>
            <a:r>
              <a:rPr lang="en-IN" sz="5600" dirty="0">
                <a:latin typeface="Arial" panose="020B0604020202020204" pitchFamily="34" charset="0"/>
                <a:cs typeface="Arial" panose="020B0604020202020204" pitchFamily="34" charset="0"/>
              </a:rPr>
              <a:t>  Approved → Production  |  Revision → Task created  |  Rejected → Escalated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18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6B65-F75B-80CF-D4BC-8049EC2D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052" y="152400"/>
            <a:ext cx="9601200" cy="1485900"/>
          </a:xfrm>
        </p:spPr>
        <p:txBody>
          <a:bodyPr>
            <a:normAutofit/>
          </a:bodyPr>
          <a:lstStyle/>
          <a:p>
            <a:r>
              <a:rPr lang="en-IN" sz="3200" u="sng" dirty="0">
                <a:latin typeface="Arial Black" panose="020B0A04020102020204" pitchFamily="34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D9493-D06F-E746-03D8-BD052543D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052" y="895350"/>
            <a:ext cx="9601200" cy="3581400"/>
          </a:xfrm>
        </p:spPr>
        <p:txBody>
          <a:bodyPr>
            <a:noAutofit/>
          </a:bodyPr>
          <a:lstStyle/>
          <a:p>
            <a:r>
              <a:rPr lang="en-IN" sz="1000" dirty="0">
                <a:latin typeface="Arial Black" panose="020B0A04020102020204" pitchFamily="34" charset="0"/>
              </a:rPr>
              <a:t> TRIGGER LAYER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Scriptwriter API  ·  </a:t>
            </a:r>
            <a:r>
              <a:rPr lang="en-IN" sz="1000" dirty="0" err="1">
                <a:latin typeface="Arial Black" panose="020B0A04020102020204" pitchFamily="34" charset="0"/>
              </a:rPr>
              <a:t>Vercel</a:t>
            </a:r>
            <a:r>
              <a:rPr lang="en-IN" sz="1000" dirty="0">
                <a:latin typeface="Arial Black" panose="020B0A04020102020204" pitchFamily="34" charset="0"/>
              </a:rPr>
              <a:t> Cron  ·  Twilio Webhook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│              │               │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└──────────────┴───────────────┘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▼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AGENT LAYER — </a:t>
            </a:r>
            <a:r>
              <a:rPr lang="en-IN" sz="1000" dirty="0" err="1">
                <a:latin typeface="Arial Black" panose="020B0A04020102020204" pitchFamily="34" charset="0"/>
              </a:rPr>
              <a:t>LangGraph</a:t>
            </a:r>
            <a:r>
              <a:rPr lang="en-IN" sz="1000" dirty="0">
                <a:latin typeface="Arial Black" panose="020B0A04020102020204" pitchFamily="34" charset="0"/>
              </a:rPr>
              <a:t> State Machine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</a:t>
            </a:r>
            <a:r>
              <a:rPr lang="en-IN" sz="1000" dirty="0" err="1">
                <a:latin typeface="Arial Black" panose="020B0A04020102020204" pitchFamily="34" charset="0"/>
              </a:rPr>
              <a:t>fetchContext</a:t>
            </a:r>
            <a:r>
              <a:rPr lang="en-IN" sz="1000" dirty="0">
                <a:latin typeface="Arial Black" panose="020B0A04020102020204" pitchFamily="34" charset="0"/>
              </a:rPr>
              <a:t> → </a:t>
            </a:r>
            <a:r>
              <a:rPr lang="en-IN" sz="1000" dirty="0" err="1">
                <a:latin typeface="Arial Black" panose="020B0A04020102020204" pitchFamily="34" charset="0"/>
              </a:rPr>
              <a:t>fetchClientMemory</a:t>
            </a:r>
            <a:r>
              <a:rPr lang="en-IN" sz="1000" dirty="0">
                <a:latin typeface="Arial Black" panose="020B0A04020102020204" pitchFamily="34" charset="0"/>
              </a:rPr>
              <a:t> → </a:t>
            </a:r>
            <a:r>
              <a:rPr lang="en-IN" sz="1000" dirty="0" err="1">
                <a:latin typeface="Arial Black" panose="020B0A04020102020204" pitchFamily="34" charset="0"/>
              </a:rPr>
              <a:t>generateRequest</a:t>
            </a:r>
            <a:endParaRPr lang="en-IN" sz="1000" dirty="0">
              <a:latin typeface="Arial Black" panose="020B0A04020102020204" pitchFamily="34" charset="0"/>
            </a:endParaRP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         ↓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   </a:t>
            </a:r>
            <a:r>
              <a:rPr lang="en-IN" sz="1000" dirty="0" err="1">
                <a:latin typeface="Arial Black" panose="020B0A04020102020204" pitchFamily="34" charset="0"/>
              </a:rPr>
              <a:t>sendMessage</a:t>
            </a:r>
            <a:endParaRPr lang="en-IN" sz="1000" dirty="0">
              <a:latin typeface="Arial Black" panose="020B0A04020102020204" pitchFamily="34" charset="0"/>
            </a:endParaRP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         ↓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┌── INTERRUPT ──┐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└───────────────┘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         ↓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</a:t>
            </a:r>
            <a:r>
              <a:rPr lang="en-IN" sz="1000" dirty="0" err="1">
                <a:latin typeface="Arial Black" panose="020B0A04020102020204" pitchFamily="34" charset="0"/>
              </a:rPr>
              <a:t>classifyResponse</a:t>
            </a:r>
            <a:r>
              <a:rPr lang="en-IN" sz="1000" dirty="0">
                <a:latin typeface="Arial Black" panose="020B0A04020102020204" pitchFamily="34" charset="0"/>
              </a:rPr>
              <a:t> (Claude Sonnet)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         ↓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  </a:t>
            </a:r>
            <a:r>
              <a:rPr lang="en-IN" sz="1000" dirty="0" err="1">
                <a:latin typeface="Arial Black" panose="020B0A04020102020204" pitchFamily="34" charset="0"/>
              </a:rPr>
              <a:t>resolveApproval</a:t>
            </a:r>
            <a:endParaRPr lang="en-IN" sz="1000" dirty="0">
              <a:latin typeface="Arial Black" panose="020B0A04020102020204" pitchFamily="34" charset="0"/>
            </a:endParaRPr>
          </a:p>
          <a:p>
            <a:r>
              <a:rPr lang="en-IN" sz="1000" dirty="0">
                <a:latin typeface="Arial Black" panose="020B0A04020102020204" pitchFamily="34" charset="0"/>
              </a:rPr>
              <a:t>                                             ↓</a:t>
            </a:r>
          </a:p>
          <a:p>
            <a:r>
              <a:rPr lang="en-IN" sz="1000" dirty="0">
                <a:latin typeface="Arial Black" panose="020B0A04020102020204" pitchFamily="34" charset="0"/>
              </a:rPr>
              <a:t>  PERSISTENCE — </a:t>
            </a:r>
            <a:r>
              <a:rPr lang="en-IN" sz="1000" dirty="0" err="1">
                <a:latin typeface="Arial Black" panose="020B0A04020102020204" pitchFamily="34" charset="0"/>
              </a:rPr>
              <a:t>Supabase</a:t>
            </a:r>
            <a:r>
              <a:rPr lang="en-IN" sz="1000" dirty="0">
                <a:latin typeface="Arial Black" panose="020B0A04020102020204" pitchFamily="34" charset="0"/>
              </a:rPr>
              <a:t> PostgreSQL · </a:t>
            </a:r>
            <a:r>
              <a:rPr lang="en-IN" sz="1000" dirty="0" err="1">
                <a:latin typeface="Arial Black" panose="020B0A04020102020204" pitchFamily="34" charset="0"/>
              </a:rPr>
              <a:t>pgvector</a:t>
            </a:r>
            <a:r>
              <a:rPr lang="en-IN" sz="1000" dirty="0">
                <a:latin typeface="Arial Black" panose="020B0A04020102020204" pitchFamily="34" charset="0"/>
              </a:rPr>
              <a:t> · Checkpoints</a:t>
            </a:r>
          </a:p>
        </p:txBody>
      </p:sp>
    </p:spTree>
    <p:extLst>
      <p:ext uri="{BB962C8B-B14F-4D97-AF65-F5344CB8AC3E}">
        <p14:creationId xmlns:p14="http://schemas.microsoft.com/office/powerpoint/2010/main" val="3515096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669124-0DA6-95D3-042C-6CE3EE924B3C}"/>
              </a:ext>
            </a:extLst>
          </p:cNvPr>
          <p:cNvSpPr txBox="1"/>
          <p:nvPr/>
        </p:nvSpPr>
        <p:spPr>
          <a:xfrm>
            <a:off x="2625213" y="776747"/>
            <a:ext cx="700056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Arial Black" panose="020B0A04020102020204" pitchFamily="34" charset="0"/>
            </a:endParaRPr>
          </a:p>
          <a:p>
            <a:r>
              <a:rPr lang="en-US" sz="2000" dirty="0">
                <a:latin typeface="Arial Black" panose="020B0A04020102020204" pitchFamily="34" charset="0"/>
              </a:rPr>
              <a:t>  65% Deterministic — triggers, timing, routing, database operations, API calls</a:t>
            </a:r>
          </a:p>
          <a:p>
            <a:endParaRPr lang="en-US" sz="2000" dirty="0">
              <a:latin typeface="Arial Black" panose="020B0A04020102020204" pitchFamily="34" charset="0"/>
            </a:endParaRPr>
          </a:p>
          <a:p>
            <a:r>
              <a:rPr lang="en-US" sz="2000" dirty="0">
                <a:latin typeface="Arial Black" panose="020B0A04020102020204" pitchFamily="34" charset="0"/>
              </a:rPr>
              <a:t>  35% Agentic — message writing, response classification, revision extraction, escalation synthesis</a:t>
            </a:r>
          </a:p>
          <a:p>
            <a:endParaRPr lang="en-US" sz="2000" dirty="0">
              <a:latin typeface="Arial Black" panose="020B0A04020102020204" pitchFamily="34" charset="0"/>
            </a:endParaRPr>
          </a:p>
          <a:p>
            <a:r>
              <a:rPr lang="en-US" sz="2000" dirty="0">
                <a:latin typeface="Arial Black" panose="020B0A04020102020204" pitchFamily="34" charset="0"/>
              </a:rPr>
              <a:t>  LLM is only invoked where a rule-based approach fails. You cannot write an if-statement that</a:t>
            </a:r>
          </a:p>
          <a:p>
            <a:r>
              <a:rPr lang="en-US" sz="2000" dirty="0">
                <a:latin typeface="Arial Black" panose="020B0A04020102020204" pitchFamily="34" charset="0"/>
              </a:rPr>
              <a:t>  </a:t>
            </a:r>
            <a:r>
              <a:rPr lang="en-US" sz="2000" dirty="0" err="1">
                <a:latin typeface="Arial Black" panose="020B0A04020102020204" pitchFamily="34" charset="0"/>
              </a:rPr>
              <a:t>recognises</a:t>
            </a:r>
            <a:r>
              <a:rPr lang="en-US" sz="2000" dirty="0">
                <a:latin typeface="Arial Black" panose="020B0A04020102020204" pitchFamily="34" charset="0"/>
              </a:rPr>
              <a:t> "looks good 👍" as a legally binding approval.</a:t>
            </a:r>
            <a:endParaRPr lang="en-IN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3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FF1B-52C5-10B5-0306-9BF945A4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Arial Black" panose="020B0A04020102020204" pitchFamily="34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A7B8-73C8-8BC4-F719-DCFF9FFC0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28750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  - Follow-ups run daily, not hourly — </a:t>
            </a:r>
            <a:r>
              <a:rPr lang="en-US" dirty="0" err="1"/>
              <a:t>Vercel</a:t>
            </a:r>
            <a:r>
              <a:rPr lang="en-US" dirty="0"/>
              <a:t> Hobby plan </a:t>
            </a:r>
            <a:r>
              <a:rPr lang="en-US" dirty="0" err="1"/>
              <a:t>cron</a:t>
            </a:r>
            <a:r>
              <a:rPr lang="en-US" dirty="0"/>
              <a:t> restriction</a:t>
            </a:r>
          </a:p>
          <a:p>
            <a:r>
              <a:rPr lang="en-US" dirty="0"/>
              <a:t>  - Inbound email replies not auto-classified — Twilio webhook handles</a:t>
            </a:r>
          </a:p>
          <a:p>
            <a:r>
              <a:rPr lang="en-US" dirty="0"/>
              <a:t>  WhatsApp only</a:t>
            </a:r>
          </a:p>
          <a:p>
            <a:r>
              <a:rPr lang="en-US" dirty="0"/>
              <a:t>  - No Notion or </a:t>
            </a:r>
            <a:r>
              <a:rPr lang="en-US" dirty="0" err="1"/>
              <a:t>Airtable</a:t>
            </a:r>
            <a:r>
              <a:rPr lang="en-US" dirty="0"/>
              <a:t> integration — API keys unavailable during build</a:t>
            </a:r>
          </a:p>
          <a:p>
            <a:r>
              <a:rPr lang="en-US" dirty="0"/>
              <a:t>  - Twilio sandbox constraints — clients must opt in to receive messages</a:t>
            </a:r>
          </a:p>
          <a:p>
            <a:r>
              <a:rPr lang="en-US" dirty="0"/>
              <a:t>  - Call scheduling not automated — agent pauses but cannot book the call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837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19B22-D4E5-BDE1-DBF3-46AFBC85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u="sng" dirty="0">
                <a:latin typeface="Arial Black" panose="020B0A04020102020204" pitchFamily="34" charset="0"/>
              </a:rPr>
              <a:t>Bridging the gap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FE36-0AAA-67ED-39CC-0975C356C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917" y="1428750"/>
            <a:ext cx="9601200" cy="3581400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/>
              <a:t>  - Daily </a:t>
            </a:r>
            <a:r>
              <a:rPr lang="en-IN" dirty="0" err="1"/>
              <a:t>cron</a:t>
            </a:r>
            <a:r>
              <a:rPr lang="en-IN" dirty="0"/>
              <a:t> → upgrade to </a:t>
            </a:r>
            <a:r>
              <a:rPr lang="en-IN" dirty="0" err="1"/>
              <a:t>Vercel</a:t>
            </a:r>
            <a:r>
              <a:rPr lang="en-IN" dirty="0"/>
              <a:t> Pro restores hourly scheduling</a:t>
            </a:r>
          </a:p>
          <a:p>
            <a:r>
              <a:rPr lang="en-IN" dirty="0"/>
              <a:t>  - No email classification → Resend inbound webhooks or reply-to tracking  addresses</a:t>
            </a:r>
          </a:p>
          <a:p>
            <a:r>
              <a:rPr lang="en-IN" dirty="0"/>
              <a:t>  - No project tool integration → Notion and </a:t>
            </a:r>
            <a:r>
              <a:rPr lang="en-IN" dirty="0" err="1"/>
              <a:t>Airtable</a:t>
            </a:r>
            <a:r>
              <a:rPr lang="en-IN" dirty="0"/>
              <a:t> APIs for automatic revision task creation</a:t>
            </a:r>
          </a:p>
          <a:p>
            <a:r>
              <a:rPr lang="en-IN" dirty="0"/>
              <a:t>  - Twilio sandbox → register a dedicated WhatsApp Business number</a:t>
            </a:r>
          </a:p>
          <a:p>
            <a:r>
              <a:rPr lang="en-IN" dirty="0"/>
              <a:t>  - No call scheduling → Calendly API integration, agent sends booking link</a:t>
            </a:r>
          </a:p>
          <a:p>
            <a:r>
              <a:rPr lang="en-IN" dirty="0"/>
              <a:t>  on request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45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F3AE-C63D-1211-AEB7-B5AAA261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490" y="685800"/>
            <a:ext cx="9360310" cy="641555"/>
          </a:xfrm>
        </p:spPr>
        <p:txBody>
          <a:bodyPr>
            <a:normAutofit/>
          </a:bodyPr>
          <a:lstStyle/>
          <a:p>
            <a:r>
              <a:rPr lang="en-IN" sz="3200" u="sng" dirty="0">
                <a:latin typeface="Arial Black" panose="020B0A04020102020204" pitchFamily="34" charset="0"/>
              </a:rPr>
              <a:t>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6B8E-4F5B-DCEA-B298-B049E391C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27355"/>
            <a:ext cx="9601200" cy="35814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dirty="0"/>
              <a:t>  </a:t>
            </a:r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- 3–4 hours per week lost to manual follow-up chasing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No visibility into which scripts are waiting for approval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Scripts regularly lost in approval limbo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Escalation was reactive and from memory</a:t>
            </a:r>
          </a:p>
          <a:p>
            <a:endParaRPr lang="en-US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After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Zero manual follow-up time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Real-time status tracking per script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Every script tracked end to end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Escalation triggered automatically at exactly 72 hours</a:t>
            </a:r>
          </a:p>
          <a:p>
            <a:r>
              <a:rPr lang="en-US" sz="6400" dirty="0">
                <a:latin typeface="Arial" panose="020B0604020202020204" pitchFamily="34" charset="0"/>
                <a:cs typeface="Arial" panose="020B0604020202020204" pitchFamily="34" charset="0"/>
              </a:rPr>
              <a:t>  - Consistent, professional client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07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CDE3B-E457-BB43-0485-CBE56E25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  Script Approval Agent</a:t>
            </a: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  A production-grade agentic system built for </a:t>
            </a:r>
            <a:r>
              <a:rPr lang="en-IN" sz="2000" dirty="0" err="1">
                <a:latin typeface="Arial Black" panose="020B0A04020102020204" pitchFamily="34" charset="0"/>
              </a:rPr>
              <a:t>Scrollhouse</a:t>
            </a:r>
            <a:br>
              <a:rPr lang="en-IN" sz="2000" dirty="0">
                <a:latin typeface="Arial Black" panose="020B0A04020102020204" pitchFamily="34" charset="0"/>
              </a:rPr>
            </a:br>
            <a:br>
              <a:rPr lang="en-IN" sz="2000" dirty="0">
                <a:latin typeface="Arial Black" panose="020B0A04020102020204" pitchFamily="34" charset="0"/>
              </a:rPr>
            </a:br>
            <a:r>
              <a:rPr lang="en-IN" sz="2000" dirty="0">
                <a:latin typeface="Arial Black" panose="020B0A04020102020204" pitchFamily="34" charset="0"/>
              </a:rPr>
              <a:t> 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Built on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· Claude ·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· Twilio ·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Vercel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Live: https://script-approval-agent.vercel.app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GitHub: github.com/ayu_2912/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script_approval_agent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0946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{DF800C06-F9E7-4978-A25D-5F3C0C0FA681}TFc3084226-2d0c-440f-9f46-6b48c7a7f670e6ba4a85-fc4a2881d6b3</Template>
  <TotalTime>52</TotalTime>
  <Words>617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Arial Narrow</vt:lpstr>
      <vt:lpstr>Franklin Gothic Book</vt:lpstr>
      <vt:lpstr>Crop</vt:lpstr>
      <vt:lpstr> Script Approval Agent   Eliminating the Content Approval Bottleneck with Agentic AI</vt:lpstr>
      <vt:lpstr>THE PROBLEM :</vt:lpstr>
      <vt:lpstr>THE SOLUTION :</vt:lpstr>
      <vt:lpstr>System Architecture</vt:lpstr>
      <vt:lpstr>PowerPoint Presentation</vt:lpstr>
      <vt:lpstr>Limitations</vt:lpstr>
      <vt:lpstr>Bridging the gap </vt:lpstr>
      <vt:lpstr>Impact</vt:lpstr>
      <vt:lpstr>   Script Approval Agent   A production-grade agentic system built for Scrollhouse    Built on LangGraph · Claude · Supabase · Twilio · Vercel    Live: https://script-approval-agent.vercel.app    GitHub: github.com/ayu_2912/script_approval_agent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AYUSHI SINGH</dc:creator>
  <cp:lastModifiedBy>AYUSHI SINGH</cp:lastModifiedBy>
  <cp:revision>1</cp:revision>
  <dcterms:created xsi:type="dcterms:W3CDTF">2026-04-03T10:22:02Z</dcterms:created>
  <dcterms:modified xsi:type="dcterms:W3CDTF">2026-04-03T11:14:11Z</dcterms:modified>
</cp:coreProperties>
</file>